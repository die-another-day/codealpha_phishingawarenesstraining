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D4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D4FF"/>
                </a:solidFill>
                <a:latin typeface="Arial"/>
              </a:rPr>
              <a:t>Annual Phishing Losses ($ Billion)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Billion Lost</c:v>
                </c:pt>
              </c:strCache>
            </c:strRef>
          </c:tx>
          <c:spPr>
            <a:solidFill>
              <a:srgbClr val="00FF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</c:v>
                </c:pt>
                <c:pt idx="1">
                  <c:v>2.1</c:v>
                </c:pt>
                <c:pt idx="2">
                  <c:v>2.9</c:v>
                </c:pt>
                <c:pt idx="3">
                  <c:v>4.1</c:v>
                </c:pt>
                <c:pt idx="4">
                  <c:v>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2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9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74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 AWARENESS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MODULE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· Resist · Report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61772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Cybersecurity Internship  •  Task 2  •  Professional Security Awareness 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 today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5720" cy="7498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Phishing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11480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03120"/>
            <a:ext cx="45720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2402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 Attacks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17520"/>
            <a:ext cx="45720" cy="7498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31546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Phishing Email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411480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31920"/>
            <a:ext cx="45720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77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40690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 Detection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11480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188720"/>
            <a:ext cx="45720" cy="7498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234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40680" y="13258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411480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103120"/>
            <a:ext cx="45720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40680" y="22402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&amp; Credential Theft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411480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017520"/>
            <a:ext cx="45720" cy="7498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40680" y="31546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Best Practices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3931920"/>
            <a:ext cx="411480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931920"/>
            <a:ext cx="45720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977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440680" y="40690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 &amp; Assessment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PHISHING?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threat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530352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30352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type of social engineering attack where cybercriminals impersonate legitimate organizations to trick victims into revealing sensitive information, installing malware, or transferring money.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283464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080760" y="1783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phishing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377440"/>
            <a:ext cx="283464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$4.9B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80760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phishing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in 2023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3657600"/>
            <a:ext cx="283464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80760" y="4343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daily worldwide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5303520" cy="731520"/>
          </a:xfrm>
          <a:prstGeom prst="rect">
            <a:avLst/>
          </a:prstGeom>
          <a:solidFill>
            <a:srgbClr val="1C2333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97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The term "phishing" comes from "fishing" — attackers cast bait hoping someone will bite.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520440"/>
            <a:ext cx="640080" cy="6400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5448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Goal: Steal credentials, money, or install malware.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DO ATTACKERS WANT?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hacker's targets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2743200" cy="16916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details for banking,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and social media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16916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numbers,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 details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143000"/>
            <a:ext cx="2743200" cy="16916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Ransomware, keyloggers,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spyware deployment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2743200" cy="16916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9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D9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SSN, DOB, address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3017520"/>
            <a:ext cx="2743200" cy="16916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data, trade secrets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017520"/>
            <a:ext cx="2743200" cy="16916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entry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networks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02920" cy="50292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80160"/>
            <a:ext cx="502920" cy="502920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02920" cy="502920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54680"/>
            <a:ext cx="502920" cy="502920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54680"/>
            <a:ext cx="502920" cy="502920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1546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 OF PHISHING ATTACKS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enemy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5720" cy="68580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70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PHISHING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1887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legitimate companies. Most common form. Uses generic greetings and urgent language.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841248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65376"/>
            <a:ext cx="45720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9568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 specific individuals using personal info. Highly convincing. Used in corporate espionage.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841248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33472"/>
            <a:ext cx="45720" cy="6858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706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7249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targeting C-level executives (CEOs, CFOs). High-value targets for maximum damage.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01568"/>
            <a:ext cx="841248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01568"/>
            <a:ext cx="45720" cy="6858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SMISHING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4930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via SMS text messages. 'Your package is held — click to verify.' Exploits mobile trust.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69664"/>
            <a:ext cx="841248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69664"/>
            <a:ext cx="45720" cy="685800"/>
          </a:xfrm>
          <a:prstGeom prst="rect">
            <a:avLst/>
          </a:prstGeom>
          <a:solidFill>
            <a:srgbClr val="BD93F9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242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VISHING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426110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via phone calls. Attackers pose as bank or IT support to extract info verbally.</a:t>
            </a:r>
            <a:endParaRPr lang="en-US" sz="12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07008"/>
            <a:ext cx="411480" cy="41148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75104"/>
            <a:ext cx="411480" cy="411480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11296"/>
            <a:ext cx="411480" cy="411480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43200"/>
            <a:ext cx="411480" cy="411480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793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NUMBERS DON'T LIE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phishing statistics 2023–2024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97280"/>
            <a:ext cx="320040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1143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90372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experienced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phishing attack in 2023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1920240"/>
            <a:ext cx="320040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90372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before a victim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a phishing link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2743200"/>
            <a:ext cx="320040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788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90372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as initial vector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3566160"/>
            <a:ext cx="320040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in 99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90372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is a phishing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 OF A PHISHING EMAIL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watch for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5120640" cy="3657600"/>
          </a:xfrm>
          <a:prstGeom prst="rect">
            <a:avLst/>
          </a:prstGeom>
          <a:solidFill>
            <a:srgbClr val="0E1420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120640" cy="4114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📧  Fake Email Example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security-alert@paypall-verify.com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1892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you@yourmail.com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URGENT: Your account will be SUSPENDED!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754880" cy="9144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060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834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detected suspicious activity on your PayPal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account. You must verify your account IMMEDIATELY 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520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be permanently closed within 24 hours.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7490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977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VERIFY MY ACCOUNT NOW 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4348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Security Team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4300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035040" y="1115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sender domain: 'paypall-verify.com'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3736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035040" y="1709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language designed to trigger panic</a:t>
            </a:r>
            <a:endParaRPr lang="en-US" sz="12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33172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035040" y="23042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— no real name used</a:t>
            </a:r>
            <a:endParaRPr lang="en-US" sz="12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92608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035040" y="2898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CTA button leading to fake site</a:t>
            </a:r>
            <a:endParaRPr lang="en-US" sz="12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52044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03504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24-hour deadline creates pressure</a:t>
            </a:r>
            <a:endParaRPr lang="en-US" sz="12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411480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035040" y="4087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any link before clicking — ALWAYS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 WEBSITE DETECTION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spoofed pages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SPOOFING — Real vs Fake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REAL URL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417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FAKE URL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https://paypal.com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719072"/>
            <a:ext cx="18288" cy="3200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7190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https://paypal-secure.verify-login.com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https://microsoft.com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2139696"/>
            <a:ext cx="18288" cy="3200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1396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https://mlcrosoft.com/signin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https://bankofamerica.com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2560320"/>
            <a:ext cx="18288" cy="3200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2560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https://bankofamerica.security-check.net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127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VERIFY A WEBSITE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529584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22960" y="35021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Padlock icon (HTTPS) — necessary but not sufficient!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529584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12080" y="35021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words in domain: 'paypal-secure.com' is NOT PayPal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78224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2960" y="40507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Typosquatting: 'mlcrosoft' instead of 'microsoft'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07822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12080" y="40507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exact domain — everything before the first '/'</a:t>
            </a:r>
            <a:endParaRPr lang="en-US" sz="1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62686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4599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important sites — never click email links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626864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12080" y="4599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WHOIS lookup to check domain registration date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 ENGINEERING TACTICS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techniques attackers use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5720" cy="117043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DELETED in 2 hours!"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92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panic, bypasses rational thinking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43000"/>
            <a:ext cx="45720" cy="1170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your bank manager / IT department."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892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Impersonates trusted figures to gain compliance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41448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441448"/>
            <a:ext cx="45720" cy="117043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532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"Police have flagged your account for fraud."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191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fear response, clouds judgment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41448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441448"/>
            <a:ext cx="45720" cy="1170432"/>
          </a:xfrm>
          <a:prstGeom prst="rect">
            <a:avLst/>
          </a:prstGeom>
          <a:solidFill>
            <a:srgbClr val="BD93F9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532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SCARCITY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1 spot left — claim your prize NOW!"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191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 (Fear of Missing Out) drives rash decisions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739896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739896"/>
            <a:ext cx="45720" cy="117043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831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RECIPROCITY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133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sent you a gift. Just confirm your info."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489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feeling obliged to return a favor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739896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739896"/>
            <a:ext cx="45720" cy="1170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831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 PROOF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133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"10,000 users already verified — join them!"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489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'Everyone else is doing it' pressure tactic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ATTACKERS HACK YOUR BRAIN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 of phishing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09728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188720"/>
            <a:ext cx="32461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188720"/>
            <a:ext cx="45720" cy="59436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 thinking: We react instinctively to danger cues without analysis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920240"/>
            <a:ext cx="32461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920240"/>
            <a:ext cx="45720" cy="59436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overload: Busy people make worse security decisions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651760"/>
            <a:ext cx="32461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651760"/>
            <a:ext cx="45720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heuristics: Familiar logos trigger automatic trust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0" y="1188720"/>
            <a:ext cx="32461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0" y="1188720"/>
            <a:ext cx="45720" cy="594360"/>
          </a:xfrm>
          <a:prstGeom prst="rect">
            <a:avLst/>
          </a:prstGeom>
          <a:solidFill>
            <a:srgbClr val="BD93F9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bias: We see what we expect to see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0" y="1920240"/>
            <a:ext cx="32461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9280" y="1920240"/>
            <a:ext cx="45720" cy="5943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0" name="Text 17"/>
          <p:cNvSpPr/>
          <p:nvPr/>
        </p:nvSpPr>
        <p:spPr>
          <a:xfrm>
            <a:off x="585216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bias: We obey authority figures without questioning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2651760"/>
            <a:ext cx="324612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2651760"/>
            <a:ext cx="45720" cy="59436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3" name="Text 20"/>
          <p:cNvSpPr/>
          <p:nvPr/>
        </p:nvSpPr>
        <p:spPr>
          <a:xfrm>
            <a:off x="585216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aversion: Fear of losing something &gt; desire to gain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3474720"/>
            <a:ext cx="8412480" cy="731520"/>
          </a:xfrm>
          <a:prstGeom prst="rect">
            <a:avLst/>
          </a:prstGeom>
          <a:solidFill>
            <a:srgbClr val="1C2333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5478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DEFENSE: Always PAUSE before clicking. Apply the '10-second rule' — stop, breathe, verify the sender and URL before any action.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MALWARE DELIVERED VIA PHISHING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installed on your device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4160520" cy="171907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5720" cy="171907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143000"/>
            <a:ext cx="4160520" cy="171907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143000"/>
            <a:ext cx="45720" cy="171907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017520"/>
            <a:ext cx="4160520" cy="171907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017520"/>
            <a:ext cx="45720" cy="1719072"/>
          </a:xfrm>
          <a:prstGeom prst="rect">
            <a:avLst/>
          </a:prstGeom>
          <a:solidFill>
            <a:srgbClr val="BD93F9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3017520"/>
            <a:ext cx="4160520" cy="171907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3017520"/>
            <a:ext cx="45720" cy="1719072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25880"/>
            <a:ext cx="594360" cy="5943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6928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KEYLOGGER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37760" y="21031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records every keystroke — passwords, credit cards, messages — and sends them to attacker.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94360" cy="594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3444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RANSOMWARE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02920" y="21031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all your files and demands Bitcoin payment for the decryption key. Average ransom: $1.5M in 2023.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TROJAN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02920" y="39776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as legitimate software. Opens a backdoor giving attackers full control of your device.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594360" cy="5943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SPYWARE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937760" y="39776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your activities, steals browser history, captures screenshots, and records microphone/camera.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 THEFT EXPLAINED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passwords get stolen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88720"/>
            <a:ext cx="164592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645920" cy="54864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5331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47672" y="1709928"/>
            <a:ext cx="429768" cy="54864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727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1188720"/>
            <a:ext cx="164592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188720"/>
            <a:ext cx="1645920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35331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Link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76472" y="1709928"/>
            <a:ext cx="429768" cy="54864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15727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0" y="1188720"/>
            <a:ext cx="164592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1188720"/>
            <a:ext cx="1645920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3977640" y="135331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Login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05272" y="1709928"/>
            <a:ext cx="429768" cy="54864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15727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1188720"/>
            <a:ext cx="164592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1188720"/>
            <a:ext cx="1645920" cy="54864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135331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34072" y="1709928"/>
            <a:ext cx="429768" cy="54864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15727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89520" y="1188720"/>
            <a:ext cx="164592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1188720"/>
            <a:ext cx="1645920" cy="54864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135331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Access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606040"/>
            <a:ext cx="416052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606040"/>
            <a:ext cx="45720" cy="10058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Harvesting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044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login pages collect username &amp; password and redirect to real site. Victim never knows.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606040"/>
            <a:ext cx="416052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606040"/>
            <a:ext cx="45720" cy="10058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Man-in-the-Browser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3044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intercepts browser sessions, stealing session tokens to bypass login entirely.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776472"/>
            <a:ext cx="416052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776472"/>
            <a:ext cx="45720" cy="1005840"/>
          </a:xfrm>
          <a:prstGeom prst="rect">
            <a:avLst/>
          </a:prstGeom>
          <a:solidFill>
            <a:srgbClr val="BD93F9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867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9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42153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 tested on 100s of sites automatically. Reused passwords = multiple breaches.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776472"/>
            <a:ext cx="416052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776472"/>
            <a:ext cx="45720" cy="10058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3867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 (ATO)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937760" y="42153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changes password, locks you out, uses account for fraud, or sells access on dark web.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MULTI-FACTOR AUTHENTICATION (MFA)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best defense against credential theft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23444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attackers steal your password,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stops them cold.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" y="2377440"/>
            <a:ext cx="274320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KNOW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401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PIN, security question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2377440"/>
            <a:ext cx="274320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38328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HAVE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83280" y="3401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OTP, authenticator app, hardware key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72200" y="2377440"/>
            <a:ext cx="274320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30936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D9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ARE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09360" y="3401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Fingerprint, face ID, retina scan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MFA BEST PRACTICES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65760" y="43159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an authenticator app (Google Authenticator, Authy) — NOT SMS where possible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46320" y="43159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Hardware keys (YubiKey) are the strongest MFA — phishing-resistant by design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47274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Never share your OTP with anyone — banks and tech companies NEVER ask for it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46320" y="47274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Enable MFA on: email, banking, social media, cloud storage — all critical accounts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HYGIENE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passwords = stronger security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97280"/>
            <a:ext cx="4206240" cy="384048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206240" cy="365760"/>
          </a:xfrm>
          <a:prstGeom prst="rect">
            <a:avLst/>
          </a:prstGeom>
          <a:solidFill>
            <a:srgbClr val="0033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DO THIS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Use 12+ character passwords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Use passphrase: 'Coffee!Rain#Book9'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Use a password manager (Bitwarden, 1Password)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Use unique password for every account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Change passwords after any breach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206240" cy="384048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97280"/>
            <a:ext cx="4206240" cy="365760"/>
          </a:xfrm>
          <a:prstGeom prst="rect">
            <a:avLst/>
          </a:prstGeom>
          <a:solidFill>
            <a:srgbClr val="33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NEVER DO THIS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Use 'password123' or 'qwerty'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Use your name, birthday, or pet's name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Reuse passwords across websites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Store passwords in a text file or browser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4114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Share passwords via email or chat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48280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STRENGTH SCALE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BROWSING &amp; REPORTING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security checklist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5720" cy="117043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143000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143000"/>
            <a:ext cx="45720" cy="1170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2441448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441448"/>
            <a:ext cx="45720" cy="1170432"/>
          </a:xfrm>
          <a:prstGeom prst="rect">
            <a:avLst/>
          </a:prstGeom>
          <a:solidFill>
            <a:srgbClr val="BD93F9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441448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441448"/>
            <a:ext cx="45720" cy="117043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3739896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739896"/>
            <a:ext cx="45720" cy="117043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3739896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3739896"/>
            <a:ext cx="45720" cy="1170432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8016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1234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URLs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9768" y="170992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full URL before entering credentials. Look for https and the exact domain name.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28016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40680" y="1234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Click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864608" y="170992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any link to preview the actual destination URL shown in your browser's status bar.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57860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05840" y="25328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9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Security Tools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29768" y="300837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browser extensions: uBlock Origin, HTTPS Everywhere, Malwarebytes Browser Guard.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57860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40680" y="25328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64608" y="300837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'Report Phishing' button in Gmail/Outlook. Forward to reportphishing@apwg.org.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877056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05840" y="38313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29768" y="43068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and browser patches fix security vulnerabilities. Enable auto-updates.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877056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40680" y="38313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VPN on Public WiFi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864608" y="43068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WiFi is prime hunting ground. Use a trusted VPN to encrypt your traffic.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REAL-WORLD PHISHING EXAMPLES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happen every single day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5720" cy="117043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16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PayPal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🎣  paypall-secure-login.com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Tactic: Account suspension threat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43000"/>
            <a:ext cx="45720" cy="1170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16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27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🎣  microsoft-365-verify.net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Tactic: License expiry + urgent reset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41448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441448"/>
            <a:ext cx="45720" cy="117043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 Alert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825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🎣  secure.banklogin-verify.xyz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Tactic: Suspicious transaction alert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41448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441448"/>
            <a:ext cx="45720" cy="1170432"/>
          </a:xfrm>
          <a:prstGeom prst="rect">
            <a:avLst/>
          </a:prstGeom>
          <a:solidFill>
            <a:srgbClr val="BD93F9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825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🎣  linkedln-recruiter.com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Tactic: Fake job offer with form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739896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739896"/>
            <a:ext cx="45720" cy="117043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OTP Scam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4123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🎣  Phone call: 'Read me your OTP'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453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Tactic: Vishing + SIM swap attack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739896"/>
            <a:ext cx="4160520" cy="1170432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739896"/>
            <a:ext cx="45720" cy="117043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Internship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4123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🎣  Free MacBook for joining!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453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Tactic: Too-good-to-be-true offer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QUIZ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phishing IQ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97280"/>
            <a:ext cx="850392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850392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An email from 'paypal@paypall-secure.com' asks you to verify your account urgently. What do you do?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immediately — it looks official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Delete and report as phishing 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Reply asking for more details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947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Forward to a friend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850392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423160"/>
            <a:ext cx="85039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96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You receive an SMS: 'Your bank account is locked. Click here to unlock: bit.ly/bankfix'. What is this?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 legitimate bank message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Smishing (SMS phishing attack) 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73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 helpful bank notification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3273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 security update reminder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49040"/>
            <a:ext cx="850392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49040"/>
            <a:ext cx="850392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221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Which URL is SAFE to use for Microsoft Office login?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microsoft365-login-verify.com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4251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login.mlcrosoft.com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99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login.microsoftonline.com 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4599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ms-office-login.net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PHISHING DEFENSE PLAYBOOK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rules to live by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41605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52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links in unexpected emails — go directly to the website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605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52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4960" y="12527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email addresses — look beyond the display 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92808"/>
            <a:ext cx="41605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02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0025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on all critical accounts — no exceptions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892808"/>
            <a:ext cx="41605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002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20025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— unique strong password per site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42616"/>
            <a:ext cx="41605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523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27523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before clicking — check actual destination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642616"/>
            <a:ext cx="41605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7523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27523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 credentials on a site you reached via email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392424"/>
            <a:ext cx="41605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02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5021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phishing — help protect your entire organization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392424"/>
            <a:ext cx="41605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502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35021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call the organization directly using official number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42232"/>
            <a:ext cx="41605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251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" y="4251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and OS updated — patch known vulnerabilities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142232"/>
            <a:ext cx="416052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251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94960" y="4251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regularly — attackers evolve, so should your knowledge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ASSESSMENT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your phishing knowledge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97280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274320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ASSESSMENT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6642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Multiple Choice Questions + 2 Scenario-based challenges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93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Limit: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09397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237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Mark: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252374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(8/10 correct)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53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95351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slides covered — types, detection, psychology, prevention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Certificate: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33832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completion badge issued on passing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0" y="4069080"/>
            <a:ext cx="5486400" cy="685800"/>
          </a:xfrm>
          <a:prstGeom prst="rect">
            <a:avLst/>
          </a:prstGeom>
          <a:solidFill>
            <a:srgbClr val="003300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069080"/>
            <a:ext cx="5486400" cy="685800"/>
          </a:xfrm>
          <a:prstGeom prst="rect">
            <a:avLst/>
          </a:prstGeom>
          <a:solidFill>
            <a:srgbClr val="0033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160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START FINAL ASSESSMENT → ]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1C2333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quiz in the quizzes/final-assessment.md file or your LMS platform.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40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74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NOW PHISHING-AWARE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three R's: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2834640"/>
            <a:ext cx="2011680" cy="7772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29443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RECOGNIZE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749040" y="2834640"/>
            <a:ext cx="2011680" cy="7772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9040" y="29443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RESIST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126480" y="2834640"/>
            <a:ext cx="2011680" cy="777240"/>
          </a:xfrm>
          <a:prstGeom prst="rect">
            <a:avLst/>
          </a:prstGeom>
          <a:solidFill>
            <a:srgbClr val="161B22"/>
          </a:solidFill>
          <a:ln w="6350">
            <a:solidFill>
              <a:srgbClr val="1C2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29443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vigilant. Stay secure. The human firewall is the strongest firewall.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461772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Cybersecurity Internship  •  Task 2: Phishing Awareness Training  •  github.com/your-username/CodeAlpha_PhishingAwarenessTraining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CodeAlpha Cybersecurity Intern</dc:creator>
  <cp:lastModifiedBy>CodeAlpha Cybersecurity Intern</cp:lastModifiedBy>
  <cp:revision>1</cp:revision>
  <dcterms:created xsi:type="dcterms:W3CDTF">2026-05-14T03:18:24Z</dcterms:created>
  <dcterms:modified xsi:type="dcterms:W3CDTF">2026-05-14T03:18:24Z</dcterms:modified>
</cp:coreProperties>
</file>